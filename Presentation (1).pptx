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4" roundtripDataSignature="AMtx7mhnbyuqmQGLIHn4OogyCD4R9vjP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2"/>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3"/>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4"/>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4"/>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6"/>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7"/>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7"/>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7"/>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8"/>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8"/>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9"/>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9"/>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9"/>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2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0"/>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0"/>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2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21"/>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2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1"/>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2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2"/>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22"/>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22"/>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2"/>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3.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0"/>
          <p:cNvSpPr/>
          <p:nvPr/>
        </p:nvSpPr>
        <p:spPr>
          <a:xfrm>
            <a:off x="0" y="0"/>
            <a:ext cx="9143640" cy="837720"/>
          </a:xfrm>
          <a:prstGeom prst="rect">
            <a:avLst/>
          </a:prstGeom>
          <a:solidFill>
            <a:srgbClr val="FF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 name="Google Shape;11;p10"/>
          <p:cNvSpPr/>
          <p:nvPr/>
        </p:nvSpPr>
        <p:spPr>
          <a:xfrm flipH="1" rot="10800000">
            <a:off x="0" y="6704640"/>
            <a:ext cx="9143640" cy="19764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LOGO.gif" id="12" name="Google Shape;12;p10"/>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10"/>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10"/>
          <p:cNvGrpSpPr/>
          <p:nvPr/>
        </p:nvGrpSpPr>
        <p:grpSpPr>
          <a:xfrm>
            <a:off x="6146640" y="0"/>
            <a:ext cx="2997000" cy="875880"/>
            <a:chOff x="6146640" y="0"/>
            <a:chExt cx="2997000" cy="875880"/>
          </a:xfrm>
        </p:grpSpPr>
        <p:sp>
          <p:nvSpPr>
            <p:cNvPr id="15" name="Google Shape;15;p10"/>
            <p:cNvSpPr/>
            <p:nvPr/>
          </p:nvSpPr>
          <p:spPr>
            <a:xfrm>
              <a:off x="6146640" y="0"/>
              <a:ext cx="2997000" cy="837720"/>
            </a:xfrm>
            <a:prstGeom prst="rect">
              <a:avLst/>
            </a:prstGeom>
            <a:solidFill>
              <a:srgbClr val="FF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LOGO.gif" id="16" name="Google Shape;16;p10"/>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10"/>
            <p:cNvSpPr/>
            <p:nvPr/>
          </p:nvSpPr>
          <p:spPr>
            <a:xfrm>
              <a:off x="6527880" y="190440"/>
              <a:ext cx="2076120" cy="68544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pic>
        <p:nvPicPr>
          <p:cNvPr descr="logo.jpg" id="18" name="Google Shape;18;p10"/>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10"/>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10"/>
          <p:cNvGrpSpPr/>
          <p:nvPr/>
        </p:nvGrpSpPr>
        <p:grpSpPr>
          <a:xfrm>
            <a:off x="6146640" y="0"/>
            <a:ext cx="2997000" cy="875880"/>
            <a:chOff x="6146640" y="0"/>
            <a:chExt cx="2997000" cy="875880"/>
          </a:xfrm>
        </p:grpSpPr>
        <p:sp>
          <p:nvSpPr>
            <p:cNvPr id="21" name="Google Shape;21;p10"/>
            <p:cNvSpPr/>
            <p:nvPr/>
          </p:nvSpPr>
          <p:spPr>
            <a:xfrm>
              <a:off x="6146640" y="0"/>
              <a:ext cx="2997000" cy="837720"/>
            </a:xfrm>
            <a:prstGeom prst="rect">
              <a:avLst/>
            </a:prstGeom>
            <a:solidFill>
              <a:srgbClr val="FF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LOGO.gif" id="22" name="Google Shape;22;p10"/>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10"/>
            <p:cNvSpPr/>
            <p:nvPr/>
          </p:nvSpPr>
          <p:spPr>
            <a:xfrm>
              <a:off x="6527880" y="190440"/>
              <a:ext cx="2076120" cy="68544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pic>
        <p:nvPicPr>
          <p:cNvPr descr="logo.jpg" id="24" name="Google Shape;24;p10"/>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10"/>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10"/>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10"/>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10"/>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10"/>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sz="1200"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sz="1200"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sz="1200"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sz="1200"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sz="1200"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sz="1200"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sz="1200"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sz="1200"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sz="1200"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nvSpPr>
        <p:spPr>
          <a:xfrm>
            <a:off x="0" y="840626"/>
            <a:ext cx="9144000" cy="5104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Project Presentation of Co-Op Project at Industry (Module-2) </a:t>
            </a:r>
            <a:endParaRPr sz="18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solidFill>
                  <a:schemeClr val="dk1"/>
                </a:solidFill>
                <a:latin typeface="Times New Roman"/>
                <a:ea typeface="Times New Roman"/>
                <a:cs typeface="Times New Roman"/>
                <a:sym typeface="Times New Roman"/>
              </a:rPr>
              <a:t>On</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ctr">
              <a:lnSpc>
                <a:spcPct val="115000"/>
              </a:lnSpc>
              <a:spcBef>
                <a:spcPts val="600"/>
              </a:spcBef>
              <a:spcAft>
                <a:spcPts val="0"/>
              </a:spcAft>
              <a:buSzPts val="1100"/>
              <a:buNone/>
            </a:pPr>
            <a:r>
              <a:rPr b="1" lang="en-US" sz="2400">
                <a:solidFill>
                  <a:schemeClr val="dk1"/>
                </a:solidFill>
                <a:latin typeface="Times New Roman"/>
                <a:ea typeface="Times New Roman"/>
                <a:cs typeface="Times New Roman"/>
                <a:sym typeface="Times New Roman"/>
              </a:rPr>
              <a:t>State-of-the-Art Algorithms for Breast Cancer Detection: A Comparative Analysis</a:t>
            </a:r>
            <a:br>
              <a:rPr b="0" lang="en-US" sz="2200" strike="noStrike">
                <a:solidFill>
                  <a:srgbClr val="000000"/>
                </a:solidFill>
                <a:latin typeface="Times New Roman"/>
                <a:ea typeface="Times New Roman"/>
                <a:cs typeface="Times New Roman"/>
                <a:sym typeface="Times New Roman"/>
              </a:rPr>
            </a:br>
            <a:endParaRPr b="0" sz="2200" strike="noStrike">
              <a:solidFill>
                <a:srgbClr val="000000"/>
              </a:solidFill>
              <a:latin typeface="Times New Roman"/>
              <a:ea typeface="Times New Roman"/>
              <a:cs typeface="Times New Roman"/>
              <a:sym typeface="Times New Roman"/>
            </a:endParaRPr>
          </a:p>
          <a:p>
            <a:pPr indent="0" lvl="0" marL="0" rtl="0" algn="ctr">
              <a:spcBef>
                <a:spcPts val="2400"/>
              </a:spcBef>
              <a:spcAft>
                <a:spcPts val="0"/>
              </a:spcAft>
              <a:buClr>
                <a:schemeClr val="dk1"/>
              </a:buClr>
              <a:buFont typeface="Arial"/>
              <a:buNone/>
            </a:pPr>
            <a:r>
              <a:rPr lang="en-US" sz="2000">
                <a:solidFill>
                  <a:schemeClr val="dk1"/>
                </a:solidFill>
                <a:latin typeface="Times New Roman"/>
                <a:ea typeface="Times New Roman"/>
                <a:cs typeface="Times New Roman"/>
                <a:sym typeface="Times New Roman"/>
              </a:rPr>
              <a:t>Trisha Batta</a:t>
            </a:r>
            <a:endParaRPr>
              <a:solidFill>
                <a:schemeClr val="dk1"/>
              </a:solidFill>
            </a:endParaRPr>
          </a:p>
          <a:p>
            <a:pPr indent="0" lvl="0" marL="0" rtl="0" algn="ctr">
              <a:spcBef>
                <a:spcPts val="400"/>
              </a:spcBef>
              <a:spcAft>
                <a:spcPts val="0"/>
              </a:spcAft>
              <a:buNone/>
            </a:pPr>
            <a:r>
              <a:rPr lang="en-US" sz="2000">
                <a:solidFill>
                  <a:schemeClr val="dk1"/>
                </a:solidFill>
                <a:latin typeface="Times New Roman"/>
                <a:ea typeface="Times New Roman"/>
                <a:cs typeface="Times New Roman"/>
                <a:sym typeface="Times New Roman"/>
              </a:rPr>
              <a:t> 2210992468</a:t>
            </a:r>
            <a:endParaRPr sz="2000">
              <a:solidFill>
                <a:schemeClr val="dk1"/>
              </a:solidFill>
              <a:latin typeface="Times New Roman"/>
              <a:ea typeface="Times New Roman"/>
              <a:cs typeface="Times New Roman"/>
              <a:sym typeface="Times New Roman"/>
            </a:endParaRPr>
          </a:p>
          <a:p>
            <a:pPr indent="0" lvl="0" marL="0" rtl="0" algn="ctr">
              <a:spcBef>
                <a:spcPts val="400"/>
              </a:spcBef>
              <a:spcAft>
                <a:spcPts val="0"/>
              </a:spcAft>
              <a:buClr>
                <a:schemeClr val="dk1"/>
              </a:buClr>
              <a:buFont typeface="Arial"/>
              <a:buNone/>
            </a:pPr>
            <a:r>
              <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solidFill>
                  <a:srgbClr val="000000"/>
                </a:solidFill>
                <a:latin typeface="Times New Roman"/>
                <a:ea typeface="Times New Roman"/>
                <a:cs typeface="Times New Roman"/>
                <a:sym typeface="Times New Roman"/>
              </a:rPr>
              <a:t>Supervised By</a:t>
            </a:r>
            <a:endParaRPr/>
          </a:p>
          <a:p>
            <a:pPr indent="0" lvl="0" marL="0" marR="0" rtl="0" algn="ctr">
              <a:lnSpc>
                <a:spcPct val="100000"/>
              </a:lnSpc>
              <a:spcBef>
                <a:spcPts val="400"/>
              </a:spcBef>
              <a:spcAft>
                <a:spcPts val="0"/>
              </a:spcAft>
              <a:buNone/>
            </a:pPr>
            <a:r>
              <a:rPr lang="en-US" sz="2000">
                <a:solidFill>
                  <a:schemeClr val="dk1"/>
                </a:solidFill>
                <a:latin typeface="Times New Roman"/>
                <a:ea typeface="Times New Roman"/>
                <a:cs typeface="Times New Roman"/>
                <a:sym typeface="Times New Roman"/>
              </a:rPr>
              <a:t>Dr. Simarjeet Kaur, Associate Professor</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400">
                <a:solidFill>
                  <a:schemeClr val="dk1"/>
                </a:solidFill>
                <a:latin typeface="Times New Roman"/>
                <a:ea typeface="Times New Roman"/>
                <a:cs typeface="Times New Roman"/>
                <a:sym typeface="Times New Roman"/>
              </a:rPr>
              <a:t>Department of </a:t>
            </a:r>
            <a:r>
              <a:rPr b="0" lang="en-US" sz="2400" strike="noStrike">
                <a:solidFill>
                  <a:schemeClr val="dk1"/>
                </a:solidFill>
                <a:latin typeface="Times New Roman"/>
                <a:ea typeface="Times New Roman"/>
                <a:cs typeface="Times New Roman"/>
                <a:sym typeface="Times New Roman"/>
              </a:rPr>
              <a:t>Computer Science and Engineering, </a:t>
            </a:r>
            <a:endParaRPr/>
          </a:p>
          <a:p>
            <a:pPr indent="0" lvl="0" marL="0" marR="0" rtl="0" algn="ctr">
              <a:lnSpc>
                <a:spcPct val="100000"/>
              </a:lnSpc>
              <a:spcBef>
                <a:spcPts val="400"/>
              </a:spcBef>
              <a:spcAft>
                <a:spcPts val="0"/>
              </a:spcAft>
              <a:buNone/>
            </a:pPr>
            <a:r>
              <a:rPr b="0" lang="en-US" sz="2400" strike="noStrike">
                <a:solidFill>
                  <a:schemeClr val="dk1"/>
                </a:solidFill>
                <a:latin typeface="Times New Roman"/>
                <a:ea typeface="Times New Roman"/>
                <a:cs typeface="Times New Roman"/>
                <a:sym typeface="Times New Roman"/>
              </a:rPr>
              <a:t>Chitkara University, Punjab</a:t>
            </a:r>
            <a:endParaRPr/>
          </a:p>
          <a:p>
            <a:pPr indent="0" lvl="0" marL="0" marR="0" rtl="0" algn="ctr">
              <a:lnSpc>
                <a:spcPct val="150000"/>
              </a:lnSpc>
              <a:spcBef>
                <a:spcPts val="400"/>
              </a:spcBef>
              <a:spcAft>
                <a:spcPts val="0"/>
              </a:spcAft>
              <a:buNone/>
            </a:pPr>
            <a:r>
              <a:t/>
            </a:r>
            <a:endParaRPr b="0" sz="2000"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641"/>
              </a:spcBef>
              <a:spcAft>
                <a:spcPts val="0"/>
              </a:spcAft>
              <a:buNone/>
            </a:pPr>
            <a:r>
              <a:t/>
            </a:r>
            <a:endParaRPr b="0" sz="2000" strike="noStrike">
              <a:solidFill>
                <a:srgbClr val="000000"/>
              </a:solidFill>
              <a:latin typeface="Times New Roman"/>
              <a:ea typeface="Times New Roman"/>
              <a:cs typeface="Times New Roman"/>
              <a:sym typeface="Times New Roman"/>
            </a:endParaRPr>
          </a:p>
        </p:txBody>
      </p:sp>
      <p:sp>
        <p:nvSpPr>
          <p:cNvPr id="84" name="Google Shape;84;p1"/>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lang="en-US" sz="1200" strike="noStrike">
                <a:solidFill>
                  <a:srgbClr val="000000"/>
                </a:solidFill>
                <a:latin typeface="Calibri"/>
                <a:ea typeface="Calibri"/>
                <a:cs typeface="Calibri"/>
                <a:sym typeface="Calibri"/>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96775" y="0"/>
            <a:ext cx="3166500" cy="8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4400">
                <a:solidFill>
                  <a:schemeClr val="dk1"/>
                </a:solidFill>
                <a:latin typeface="Times New Roman"/>
                <a:ea typeface="Times New Roman"/>
                <a:cs typeface="Times New Roman"/>
                <a:sym typeface="Times New Roman"/>
              </a:rPr>
              <a:t>Introduction</a:t>
            </a:r>
            <a:endParaRPr b="0" sz="4400" strike="noStrik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41712"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r>
              <a:t/>
            </a:r>
            <a:endParaRPr b="0" sz="1200" strike="noStrike">
              <a:solidFill>
                <a:schemeClr val="dk1"/>
              </a:solidFill>
              <a:latin typeface="Times New Roman"/>
              <a:ea typeface="Times New Roman"/>
              <a:cs typeface="Times New Roman"/>
              <a:sym typeface="Times New Roman"/>
            </a:endParaRPr>
          </a:p>
        </p:txBody>
      </p:sp>
      <p:sp>
        <p:nvSpPr>
          <p:cNvPr id="91" name="Google Shape;91;p2"/>
          <p:cNvSpPr txBox="1"/>
          <p:nvPr/>
        </p:nvSpPr>
        <p:spPr>
          <a:xfrm>
            <a:off x="152650" y="981701"/>
            <a:ext cx="8838600" cy="53748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Breast cancer is one of the most commonly diagnosed cancers among women worldwide and remains a leading cause of cancer-related mortality. Early and accurate detection of breast cancer plays a crucial role in improving patient survival rates and treatment outcomes.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Conventional diagnostic techniques such as mammography, ultrasound imaging, and fine needle aspiration cytology are widely used, but they often suffer from limitations including high cost, dependence on expert interpretation, and diagnostic subjectivity.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With advancements in artificial intelligence, machine learning techniques have emerged as effective tools for assisting medical diagnosis. These techniques can analyze large volumes of clinical data and identify complex patterns that may not be easily detected through traditional methods.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This project focuses on the comparative analysis of state-of-the-art supervised machine learning algorithms for breast cancer detection using the Wisconsin Breast Cancer Diagnostic dataset, aiming to identify the most accurate and clinically reliable model.</a:t>
            </a:r>
            <a:endParaRPr sz="1800">
              <a:solidFill>
                <a:schemeClr val="dk1"/>
              </a:solidFill>
            </a:endParaRPr>
          </a:p>
          <a:p>
            <a:pPr indent="-342900" lvl="0" marL="342900" marR="0" rtl="0" algn="l">
              <a:spcBef>
                <a:spcPts val="0"/>
              </a:spcBef>
              <a:spcAft>
                <a:spcPts val="0"/>
              </a:spcAft>
              <a:buClr>
                <a:schemeClr val="dk1"/>
              </a:buClr>
              <a:buSzPts val="1800"/>
              <a:buChar char="•"/>
            </a:pPr>
            <a:r>
              <a:t/>
            </a:r>
            <a:endParaRPr sz="1800">
              <a:solidFill>
                <a:schemeClr val="dk1"/>
              </a:solidFill>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
        <p:nvSpPr>
          <p:cNvPr id="92" name="Google Shape;92;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lang="en-US" sz="1200" strike="noStrike">
                <a:solidFill>
                  <a:srgbClr val="000000"/>
                </a:solidFill>
                <a:latin typeface="Calibri"/>
                <a:ea typeface="Calibri"/>
                <a:cs typeface="Calibri"/>
                <a:sym typeface="Calibri"/>
              </a:rPr>
              <a:t>‹#›</a:t>
            </a:fld>
            <a:endParaRPr b="0" sz="1200" strike="noStrike">
              <a:solidFill>
                <a:schemeClr val="dk1"/>
              </a:solidFill>
              <a:latin typeface="Times New Roman"/>
              <a:ea typeface="Times New Roman"/>
              <a:cs typeface="Times New Roman"/>
              <a:sym typeface="Times New Roman"/>
            </a:endParaRPr>
          </a:p>
        </p:txBody>
      </p:sp>
      <p:sp>
        <p:nvSpPr>
          <p:cNvPr id="93" name="Google Shape;93;p2"/>
          <p:cNvSpPr/>
          <p:nvPr/>
        </p:nvSpPr>
        <p:spPr>
          <a:xfrm flipH="1" rot="10800000">
            <a:off x="-262700" y="603359"/>
            <a:ext cx="8259000" cy="1304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22860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Scope of Project</a:t>
            </a:r>
            <a:endParaRPr>
              <a:latin typeface="Times New Roman"/>
              <a:ea typeface="Times New Roman"/>
              <a:cs typeface="Times New Roman"/>
              <a:sym typeface="Times New Roman"/>
            </a:endParaRPr>
          </a:p>
        </p:txBody>
      </p:sp>
      <p:sp>
        <p:nvSpPr>
          <p:cNvPr id="99" name="Google Shape;99;p3"/>
          <p:cNvSpPr txBox="1"/>
          <p:nvPr/>
        </p:nvSpPr>
        <p:spPr>
          <a:xfrm>
            <a:off x="118512" y="1119791"/>
            <a:ext cx="8568000" cy="4511400"/>
          </a:xfrm>
          <a:prstGeom prst="rect">
            <a:avLst/>
          </a:prstGeom>
          <a:noFill/>
          <a:ln>
            <a:noFill/>
          </a:ln>
        </p:spPr>
        <p:txBody>
          <a:bodyPr anchorCtr="0" anchor="t" bIns="45700" lIns="91425" spcFirstLastPara="1" rIns="91425" wrap="square" tIns="45700">
            <a:spAutoFit/>
          </a:bodyPr>
          <a:lstStyle/>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The scope of this project lies in the application of machine learning techniques to assist in early and accurate detection of breast cancer. The study focuses on analyzing structured medical data obtained from biopsy samples to classify tumors as benign or malignant.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This project evaluates multiple supervised learning algorithms under uniform conditions to understand their comparative performance and clinical reliability. The findings can support healthcare professionals by providing a reliable decision-support tool that enhances diagnostic accuracy.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The proposed approach is computationally efficient and can be implemented on standard hardware, making it suitable for deployment in hospitals and diagnostic centers, especially in resource-constrained environments.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In the future, the scope can be extended to include larger and more diverse datasets, integration with medical imaging data, and incorporation of explainable AI techniques to improve transparency and clinical trust.</a:t>
            </a:r>
            <a:endParaRPr sz="1800">
              <a:solidFill>
                <a:schemeClr val="dk1"/>
              </a:solidFill>
            </a:endParaRPr>
          </a:p>
        </p:txBody>
      </p:sp>
      <p:sp>
        <p:nvSpPr>
          <p:cNvPr id="100" name="Google Shape;100;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lang="en-US" sz="1200" strike="noStrike">
                <a:solidFill>
                  <a:srgbClr val="000000"/>
                </a:solidFill>
                <a:latin typeface="Calibri"/>
                <a:ea typeface="Calibri"/>
                <a:cs typeface="Calibri"/>
                <a:sym typeface="Calibri"/>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ph type="title"/>
          </p:nvPr>
        </p:nvSpPr>
        <p:spPr>
          <a:xfrm>
            <a:off x="173736"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Approach</a:t>
            </a:r>
            <a:endParaRPr>
              <a:latin typeface="Times New Roman"/>
              <a:ea typeface="Times New Roman"/>
              <a:cs typeface="Times New Roman"/>
              <a:sym typeface="Times New Roman"/>
            </a:endParaRPr>
          </a:p>
        </p:txBody>
      </p:sp>
      <p:sp>
        <p:nvSpPr>
          <p:cNvPr id="106" name="Google Shape;106;p4"/>
          <p:cNvSpPr txBox="1"/>
          <p:nvPr/>
        </p:nvSpPr>
        <p:spPr>
          <a:xfrm>
            <a:off x="246888" y="1263414"/>
            <a:ext cx="8650200" cy="500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rPr>
              <a:t>The approach adopted in this project follows a systematic and standardized machine learning workflow for breast cancer detection. The Wisconsin Breast Cancer Diagnostic (WBCD) dataset was used as the primary data source.</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Initially, the dataset was analyzed for data integrity, and preprocessing steps such as label encoding and feature standardization were applied to ensure consistency and reliability of the input data. The dataset was then divided into training and testing sets using stratified sampling to preserve class distribution.</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Multiple supervised machine learning algorithms, including Logistic Regression, Random Forest, Support Vector Machine, and a Convolutional Neural Network implemented as a Multi-Layer Perceptron, were trained using identical conditions.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Finally, the models were evaluated using performance metrics such as accuracy, precision, recall, and F1-score to identify the most effective algorithm for clinical breast cancer diagnosis.</a:t>
            </a:r>
            <a:endParaRPr sz="1800">
              <a:solidFill>
                <a:schemeClr val="dk1"/>
              </a:solidFill>
            </a:endParaRPr>
          </a:p>
          <a:p>
            <a:pPr indent="0" lvl="0" marL="0" marR="0" rtl="0" algn="l">
              <a:spcBef>
                <a:spcPts val="1200"/>
              </a:spcBef>
              <a:spcAft>
                <a:spcPts val="0"/>
              </a:spcAft>
              <a:buNone/>
            </a:pPr>
            <a:r>
              <a:t/>
            </a:r>
            <a:endParaRPr sz="1800">
              <a:solidFill>
                <a:schemeClr val="dk1"/>
              </a:solidFill>
            </a:endParaRPr>
          </a:p>
        </p:txBody>
      </p:sp>
      <p:sp>
        <p:nvSpPr>
          <p:cNvPr id="107" name="Google Shape;107;p4"/>
          <p:cNvSpPr txBox="1"/>
          <p:nvPr/>
        </p:nvSpPr>
        <p:spPr>
          <a:xfrm>
            <a:off x="6553080" y="6365664"/>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lang="en-US" sz="1200" strike="noStrike">
                <a:solidFill>
                  <a:srgbClr val="000000"/>
                </a:solidFill>
                <a:latin typeface="Calibri"/>
                <a:ea typeface="Calibri"/>
                <a:cs typeface="Calibri"/>
                <a:sym typeface="Calibri"/>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173736" y="0"/>
            <a:ext cx="640080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Tools and Technologies</a:t>
            </a:r>
            <a:endParaRPr b="1">
              <a:latin typeface="Times New Roman"/>
              <a:ea typeface="Times New Roman"/>
              <a:cs typeface="Times New Roman"/>
              <a:sym typeface="Times New Roman"/>
            </a:endParaRPr>
          </a:p>
        </p:txBody>
      </p:sp>
      <p:sp>
        <p:nvSpPr>
          <p:cNvPr id="113" name="Google Shape;113;p5"/>
          <p:cNvSpPr/>
          <p:nvPr/>
        </p:nvSpPr>
        <p:spPr>
          <a:xfrm>
            <a:off x="187700" y="788126"/>
            <a:ext cx="8768700" cy="4834800"/>
          </a:xfrm>
          <a:prstGeom prst="rect">
            <a:avLst/>
          </a:prstGeom>
          <a:noFill/>
          <a:ln>
            <a:noFill/>
          </a:ln>
        </p:spPr>
        <p:txBody>
          <a:bodyPr anchorCtr="0" anchor="ctr" bIns="45700" lIns="91425" spcFirstLastPara="1" rIns="91425" wrap="square" tIns="45700">
            <a:spAutoFit/>
          </a:bodyPr>
          <a:lstStyle/>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Programming Language:</a:t>
            </a:r>
            <a:r>
              <a:rPr lang="en-US" sz="1900">
                <a:solidFill>
                  <a:schemeClr val="dk1"/>
                </a:solidFill>
              </a:rPr>
              <a:t> Python was used for its simplicity and strong machine learning support.</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Machine Learning Library:</a:t>
            </a:r>
            <a:r>
              <a:rPr lang="en-US" sz="1900">
                <a:solidFill>
                  <a:schemeClr val="dk1"/>
                </a:solidFill>
              </a:rPr>
              <a:t> Scikit-learn was used for implementing classifiers and evaluation metrics.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Data Handling:</a:t>
            </a:r>
            <a:r>
              <a:rPr lang="en-US" sz="1900">
                <a:solidFill>
                  <a:schemeClr val="dk1"/>
                </a:solidFill>
              </a:rPr>
              <a:t> NumPy and Pandas were used for data preprocessing and numerical operations.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Visualization:</a:t>
            </a:r>
            <a:r>
              <a:rPr lang="en-US" sz="1900">
                <a:solidFill>
                  <a:schemeClr val="dk1"/>
                </a:solidFill>
              </a:rPr>
              <a:t> Matplotlib was used to visualize results and performance metrics.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 </a:t>
            </a:r>
            <a:r>
              <a:rPr b="1" lang="en-US" sz="1900">
                <a:solidFill>
                  <a:schemeClr val="dk1"/>
                </a:solidFill>
              </a:rPr>
              <a:t>Environment:</a:t>
            </a:r>
            <a:r>
              <a:rPr lang="en-US" sz="1900">
                <a:solidFill>
                  <a:schemeClr val="dk1"/>
                </a:solidFill>
              </a:rPr>
              <a:t> Python 3.10 environment was used for model development and testing.</a:t>
            </a:r>
            <a:endParaRPr sz="1900">
              <a:solidFill>
                <a:schemeClr val="dk1"/>
              </a:solidFill>
              <a:latin typeface="Times New Roman"/>
              <a:ea typeface="Times New Roman"/>
              <a:cs typeface="Times New Roman"/>
              <a:sym typeface="Times New Roman"/>
            </a:endParaRPr>
          </a:p>
        </p:txBody>
      </p:sp>
      <p:sp>
        <p:nvSpPr>
          <p:cNvPr id="114" name="Google Shape;114;p5"/>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lang="en-US" sz="1200" strike="noStrike">
                <a:solidFill>
                  <a:srgbClr val="000000"/>
                </a:solidFill>
                <a:latin typeface="Calibri"/>
                <a:ea typeface="Calibri"/>
                <a:cs typeface="Calibri"/>
                <a:sym typeface="Calibri"/>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type="title"/>
          </p:nvPr>
        </p:nvSpPr>
        <p:spPr>
          <a:xfrm>
            <a:off x="173736"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4400"/>
              <a:buFont typeface="Arial"/>
              <a:buNone/>
            </a:pPr>
            <a:r>
              <a:rPr lang="en-US"/>
              <a:t>Expected Outcomes</a:t>
            </a:r>
            <a:endParaRPr>
              <a:latin typeface="Times New Roman"/>
              <a:ea typeface="Times New Roman"/>
              <a:cs typeface="Times New Roman"/>
              <a:sym typeface="Times New Roman"/>
            </a:endParaRPr>
          </a:p>
        </p:txBody>
      </p:sp>
      <p:sp>
        <p:nvSpPr>
          <p:cNvPr id="120" name="Google Shape;120;p6"/>
          <p:cNvSpPr/>
          <p:nvPr/>
        </p:nvSpPr>
        <p:spPr>
          <a:xfrm>
            <a:off x="150825" y="2114100"/>
            <a:ext cx="8767500" cy="2988600"/>
          </a:xfrm>
          <a:prstGeom prst="rect">
            <a:avLst/>
          </a:prstGeom>
          <a:noFill/>
          <a:ln>
            <a:noFill/>
          </a:ln>
        </p:spPr>
        <p:txBody>
          <a:bodyPr anchorCtr="0" anchor="ctr"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The expected outcomes of this project focus on improving the accuracy and reliability of breast cancer diagnosis using machine learning.</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Accurate classification of breast tumors as benign or malignant using supervised learning models.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Identification of the most effective machine learning algorithm based on performance metrics.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High recall performance to minimize false negative cases in cancer detection.</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Development of a reliable decision-support system for assisting medical professionals.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Demonstration that classical machine learning models can perform competitively with deep learning models.</a:t>
            </a:r>
            <a:endParaRPr sz="1800">
              <a:solidFill>
                <a:schemeClr val="dk1"/>
              </a:solidFill>
            </a:endParaRPr>
          </a:p>
          <a:p>
            <a:pPr indent="0" lvl="0" marL="457200" marR="0" rtl="0" algn="l">
              <a:spcBef>
                <a:spcPts val="1200"/>
              </a:spcBef>
              <a:spcAft>
                <a:spcPts val="0"/>
              </a:spcAft>
              <a:buNone/>
            </a:pPr>
            <a:r>
              <a:t/>
            </a:r>
            <a:endParaRPr sz="1800">
              <a:solidFill>
                <a:schemeClr val="dk1"/>
              </a:solidFill>
            </a:endParaRPr>
          </a:p>
        </p:txBody>
      </p:sp>
      <p:sp>
        <p:nvSpPr>
          <p:cNvPr id="121" name="Google Shape;121;p6"/>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lang="en-US" sz="1200" strike="noStrike">
                <a:solidFill>
                  <a:srgbClr val="000000"/>
                </a:solidFill>
                <a:latin typeface="Calibri"/>
                <a:ea typeface="Calibri"/>
                <a:cs typeface="Calibri"/>
                <a:sym typeface="Calibri"/>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2300" y="200050"/>
            <a:ext cx="66789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4200"/>
              <a:buFont typeface="Times New Roman"/>
              <a:buNone/>
            </a:pPr>
            <a:r>
              <a:rPr b="1" lang="en-US" sz="4200">
                <a:latin typeface="Times New Roman"/>
                <a:ea typeface="Times New Roman"/>
                <a:cs typeface="Times New Roman"/>
                <a:sym typeface="Times New Roman"/>
              </a:rPr>
              <a:t>Future Vision &amp; Conclusion</a:t>
            </a:r>
            <a:br>
              <a:rPr b="1" lang="en-US" sz="4200">
                <a:latin typeface="Times New Roman"/>
                <a:ea typeface="Times New Roman"/>
                <a:cs typeface="Times New Roman"/>
                <a:sym typeface="Times New Roman"/>
              </a:rPr>
            </a:br>
            <a:endParaRPr b="1" sz="4200">
              <a:latin typeface="Times New Roman"/>
              <a:ea typeface="Times New Roman"/>
              <a:cs typeface="Times New Roman"/>
              <a:sym typeface="Times New Roman"/>
            </a:endParaRPr>
          </a:p>
        </p:txBody>
      </p:sp>
      <p:sp>
        <p:nvSpPr>
          <p:cNvPr id="127" name="Google Shape;127;p8"/>
          <p:cNvSpPr/>
          <p:nvPr/>
        </p:nvSpPr>
        <p:spPr>
          <a:xfrm>
            <a:off x="156710" y="724209"/>
            <a:ext cx="8183880" cy="594008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900">
                <a:solidFill>
                  <a:schemeClr val="dk1"/>
                </a:solidFill>
              </a:rPr>
              <a:t>This project successfully demonstrates the application of machine learning techniques for breast cancer detection using structured clinical data. The comparative analysis shows that classical supervised algorithms such as Logistic Regression, Random Forest, and Support Vector Machine can achieve high diagnostic accuracy when appropriate preprocessing is applied. </a:t>
            </a:r>
            <a:endParaRPr sz="1900">
              <a:solidFill>
                <a:schemeClr val="dk1"/>
              </a:solidFill>
            </a:endParaRPr>
          </a:p>
          <a:p>
            <a:pPr indent="0" lvl="0" marL="0" marR="0" rtl="0" algn="l">
              <a:spcBef>
                <a:spcPts val="0"/>
              </a:spcBef>
              <a:spcAft>
                <a:spcPts val="0"/>
              </a:spcAft>
              <a:buNone/>
            </a:pPr>
            <a:r>
              <a:t/>
            </a:r>
            <a:endParaRPr sz="1900">
              <a:solidFill>
                <a:schemeClr val="dk1"/>
              </a:solidFill>
            </a:endParaRPr>
          </a:p>
          <a:p>
            <a:pPr indent="0" lvl="0" marL="0" marR="0" rtl="0" algn="l">
              <a:spcBef>
                <a:spcPts val="0"/>
              </a:spcBef>
              <a:spcAft>
                <a:spcPts val="0"/>
              </a:spcAft>
              <a:buNone/>
            </a:pPr>
            <a:r>
              <a:rPr lang="en-US" sz="1900">
                <a:solidFill>
                  <a:schemeClr val="dk1"/>
                </a:solidFill>
              </a:rPr>
              <a:t>Logistic Regression delivered the best overall performance, while Random Forest achieved high recall, making it suitable for screening scenarios where early cancer detection is critical. The results also indicate that complex deep learning models do not necessarily outperform traditional methods on small tabular datasets. In the future, this work can be extended by using larger and more diverse datasets, incorporating medical imaging data, applying advanced hyperparameter optimization techniques, and integrating explainable AI methods to enhance clinical trust and real-world deployment.</a:t>
            </a:r>
            <a:endParaRPr sz="1900">
              <a:solidFill>
                <a:schemeClr val="dk1"/>
              </a:solidFill>
              <a:latin typeface="Times New Roman"/>
              <a:ea typeface="Times New Roman"/>
              <a:cs typeface="Times New Roman"/>
              <a:sym typeface="Times New Roman"/>
            </a:endParaRPr>
          </a:p>
        </p:txBody>
      </p:sp>
      <p:sp>
        <p:nvSpPr>
          <p:cNvPr id="128" name="Google Shape;128;p8"/>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lang="en-US" sz="1200" strike="noStrike">
                <a:solidFill>
                  <a:srgbClr val="000000"/>
                </a:solidFill>
                <a:latin typeface="Calibri"/>
                <a:ea typeface="Calibri"/>
                <a:cs typeface="Calibri"/>
                <a:sym typeface="Calibri"/>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5400">
                <a:solidFill>
                  <a:schemeClr val="dk1"/>
                </a:solidFill>
                <a:latin typeface="Times New Roman"/>
                <a:ea typeface="Times New Roman"/>
                <a:cs typeface="Times New Roman"/>
                <a:sym typeface="Times New Roman"/>
              </a:rPr>
              <a:t>Thank You</a:t>
            </a:r>
            <a:endParaRPr b="0" sz="5400" strike="noStrike">
              <a:solidFill>
                <a:srgbClr val="000000"/>
              </a:solidFill>
              <a:latin typeface="Times New Roman"/>
              <a:ea typeface="Times New Roman"/>
              <a:cs typeface="Times New Roman"/>
              <a:sym typeface="Times New Roman"/>
            </a:endParaRPr>
          </a:p>
        </p:txBody>
      </p:sp>
      <p:sp>
        <p:nvSpPr>
          <p:cNvPr id="134" name="Google Shape;134;p9"/>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lang="en-US" sz="1200" strike="noStrike">
                <a:solidFill>
                  <a:srgbClr val="000000"/>
                </a:solidFill>
                <a:latin typeface="Calibri"/>
                <a:ea typeface="Calibri"/>
                <a:cs typeface="Calibri"/>
                <a:sym typeface="Calibri"/>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